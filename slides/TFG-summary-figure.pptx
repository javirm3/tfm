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9" name="Shape 12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o del título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>
                <a:solidFill>
                  <a:srgbClr val="0A1A66"/>
                </a:solidFill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3" name="Nivel de texto 1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>
                <a:solidFill>
                  <a:srgbClr val="1F996B"/>
                </a:solidFill>
              </a:defRPr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>
                <a:solidFill>
                  <a:srgbClr val="1F996B"/>
                </a:solidFill>
              </a:defRPr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>
                <a:solidFill>
                  <a:srgbClr val="1F996B"/>
                </a:solidFill>
              </a:defRPr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>
                <a:solidFill>
                  <a:srgbClr val="1F996B"/>
                </a:solidFill>
              </a:defRPr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>
                <a:solidFill>
                  <a:srgbClr val="1F996B"/>
                </a:solidFill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o del título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Texto del título</a:t>
            </a:r>
          </a:p>
        </p:txBody>
      </p:sp>
      <p:sp>
        <p:nvSpPr>
          <p:cNvPr id="2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0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9" name="Nivel de texto 1…"/>
          <p:cNvSpPr txBox="1"/>
          <p:nvPr>
            <p:ph type="body" sz="quarter" idx="1"/>
          </p:nvPr>
        </p:nvSpPr>
        <p:spPr>
          <a:xfrm>
            <a:off x="311699" y="4746778"/>
            <a:ext cx="8344201" cy="342001"/>
          </a:xfrm>
          <a:prstGeom prst="rect">
            <a:avLst/>
          </a:prstGeom>
        </p:spPr>
        <p:txBody>
          <a:bodyPr/>
          <a:lstStyle>
            <a:lvl1pPr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1pPr>
            <a:lvl2pPr marL="9144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2pPr>
            <a:lvl3pPr marL="13716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3pPr>
            <a:lvl4pPr marL="18288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4pPr>
            <a:lvl5pPr marL="22860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8" name="Nivel de texto 1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9" name="Google Shape;30;p6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5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o del título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Texto del título</a:t>
            </a:r>
          </a:p>
        </p:txBody>
      </p:sp>
      <p:sp>
        <p:nvSpPr>
          <p:cNvPr id="66" name="Nivel de texto 1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o del título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Texto del título</a:t>
            </a:r>
          </a:p>
        </p:txBody>
      </p:sp>
      <p:sp>
        <p:nvSpPr>
          <p:cNvPr id="7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47;p10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" name="Texto del título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Texto del título</a:t>
            </a:r>
          </a:p>
        </p:txBody>
      </p:sp>
      <p:sp>
        <p:nvSpPr>
          <p:cNvPr id="84" name="Nivel de texto 1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85" name="Google Shape;50;p10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86" name="Google Shape;52;p10"/>
          <p:cNvSpPr/>
          <p:nvPr/>
        </p:nvSpPr>
        <p:spPr>
          <a:xfrm>
            <a:off x="-100" y="-1"/>
            <a:ext cx="9144001" cy="900002"/>
          </a:xfrm>
          <a:prstGeom prst="rect">
            <a:avLst/>
          </a:prstGeom>
          <a:gradFill>
            <a:gsLst>
              <a:gs pos="0">
                <a:srgbClr val="0A1A66"/>
              </a:gs>
              <a:gs pos="100000">
                <a:srgbClr val="1F996B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8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Nivel de texto 1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9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103" name="Nivel de texto 1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0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119" name="Google Shape;25;p5"/>
          <p:cNvSpPr/>
          <p:nvPr/>
        </p:nvSpPr>
        <p:spPr>
          <a:xfrm>
            <a:off x="-100" y="-1"/>
            <a:ext cx="9144001" cy="900002"/>
          </a:xfrm>
          <a:prstGeom prst="rect">
            <a:avLst/>
          </a:prstGeom>
          <a:solidFill>
            <a:srgbClr val="0034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120" name="Nivel de texto 1…"/>
          <p:cNvSpPr txBox="1"/>
          <p:nvPr>
            <p:ph type="body" sz="quarter" idx="1"/>
          </p:nvPr>
        </p:nvSpPr>
        <p:spPr>
          <a:xfrm>
            <a:off x="311699" y="4746778"/>
            <a:ext cx="8344201" cy="342001"/>
          </a:xfrm>
          <a:prstGeom prst="rect">
            <a:avLst/>
          </a:prstGeom>
        </p:spPr>
        <p:txBody>
          <a:bodyPr/>
          <a:lstStyle>
            <a:lvl1pPr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1pPr>
            <a:lvl2pPr marL="9144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2pPr>
            <a:lvl3pPr marL="13716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3pPr>
            <a:lvl4pPr marL="18288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4pPr>
            <a:lvl5pPr marL="2286000" indent="-317500" algn="r">
              <a:buSzPts val="1400"/>
              <a:buFont typeface="Lato Regular"/>
              <a:defRPr sz="1400">
                <a:latin typeface="Lato Regular"/>
                <a:ea typeface="Lato Regular"/>
                <a:cs typeface="Lato Regular"/>
                <a:sym typeface="Lato Regular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121" name="Cover-BG2-1.pdf" descr="Cover-BG2-1.pdf"/>
          <p:cNvPicPr>
            <a:picLocks noChangeAspect="1"/>
          </p:cNvPicPr>
          <p:nvPr/>
        </p:nvPicPr>
        <p:blipFill>
          <a:blip r:embed="rId2">
            <a:extLst/>
          </a:blip>
          <a:srcRect l="46538" t="33429" r="0" b="5101"/>
          <a:stretch>
            <a:fillRect/>
          </a:stretch>
        </p:blipFill>
        <p:spPr>
          <a:xfrm flipH="1" rot="16200000">
            <a:off x="8021404" y="-281982"/>
            <a:ext cx="899836" cy="146408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311699" y="163650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Google Shape;21;p4"/>
          <p:cNvSpPr/>
          <p:nvPr/>
        </p:nvSpPr>
        <p:spPr>
          <a:xfrm>
            <a:off x="-100" y="-1"/>
            <a:ext cx="9144001" cy="900002"/>
          </a:xfrm>
          <a:prstGeom prst="rect">
            <a:avLst/>
          </a:prstGeom>
          <a:gradFill>
            <a:gsLst>
              <a:gs pos="0">
                <a:srgbClr val="0A1A66"/>
              </a:gs>
              <a:gs pos="100000">
                <a:srgbClr val="1F996B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" name="Número de diapositiva"/>
          <p:cNvSpPr txBox="1"/>
          <p:nvPr>
            <p:ph type="sldNum" sz="quarter" idx="2"/>
          </p:nvPr>
        </p:nvSpPr>
        <p:spPr>
          <a:xfrm>
            <a:off x="8684345" y="4700819"/>
            <a:ext cx="336813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FFFFFF"/>
          </a:solidFill>
          <a:uFillTx/>
          <a:latin typeface="Montserrat Thin Bold"/>
          <a:ea typeface="Montserrat Thin Bold"/>
          <a:cs typeface="Montserrat Thin Bold"/>
          <a:sym typeface="Montserrat Thin Bold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●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○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■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●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○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■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●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○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0A1A66"/>
        </a:buClr>
        <a:buSzPts val="1800"/>
        <a:buFont typeface="Montserrat Thin Regular"/>
        <a:buChar char="■"/>
        <a:tabLst/>
        <a:defRPr b="0" baseline="0" cap="none" i="0" spc="0" strike="noStrike" sz="1800" u="none">
          <a:solidFill>
            <a:srgbClr val="0A1A66"/>
          </a:solidFill>
          <a:uFillTx/>
          <a:latin typeface="Montserrat Thin SemiBold"/>
          <a:ea typeface="Montserrat Thin SemiBold"/>
          <a:cs typeface="Montserrat Thin SemiBold"/>
          <a:sym typeface="Montserrat Thin SemiBold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6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1A66"/>
              </a:gs>
              <a:gs pos="100000">
                <a:srgbClr val="1F996B"/>
              </a:gs>
            </a:gsLst>
          </a:gradFill>
          <a:ln>
            <a:solidFill>
              <a:schemeClr val="accent2">
                <a:lumOff val="21764"/>
              </a:schemeClr>
            </a:solidFill>
          </a:ln>
        </p:spPr>
        <p:txBody>
          <a:bodyPr lIns="0" tIns="0" rIns="0" bIns="0" anchor="ctr"/>
          <a:lstStyle/>
          <a:p>
            <a:pPr algn="ctr">
              <a:defRPr sz="1100"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pPr>
          </a:p>
        </p:txBody>
      </p:sp>
      <p:sp>
        <p:nvSpPr>
          <p:cNvPr id="132" name="Google Shape;70;p14"/>
          <p:cNvSpPr txBox="1"/>
          <p:nvPr>
            <p:ph type="ctrTitle"/>
          </p:nvPr>
        </p:nvSpPr>
        <p:spPr>
          <a:xfrm>
            <a:off x="311699" y="835067"/>
            <a:ext cx="8520602" cy="2242800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Model Figure</a:t>
            </a:r>
          </a:p>
        </p:txBody>
      </p:sp>
      <p:sp>
        <p:nvSpPr>
          <p:cNvPr id="133" name="Google Shape;71;p14"/>
          <p:cNvSpPr txBox="1"/>
          <p:nvPr>
            <p:ph type="subTitle" sz="quarter" idx="1"/>
          </p:nvPr>
        </p:nvSpPr>
        <p:spPr>
          <a:xfrm>
            <a:off x="311699" y="3199475"/>
            <a:ext cx="8520602" cy="792601"/>
          </a:xfrm>
          <a:prstGeom prst="rect">
            <a:avLst/>
          </a:prstGeom>
        </p:spPr>
        <p:txBody>
          <a:bodyPr/>
          <a:lstStyle>
            <a:lvl1pPr marL="0" indent="0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Javier Rodríguez Martínez</a:t>
            </a:r>
          </a:p>
        </p:txBody>
      </p:sp>
      <p:sp>
        <p:nvSpPr>
          <p:cNvPr id="134" name="Google Shape;72;p14"/>
          <p:cNvSpPr txBox="1"/>
          <p:nvPr/>
        </p:nvSpPr>
        <p:spPr>
          <a:xfrm>
            <a:off x="311699" y="3791325"/>
            <a:ext cx="8520602" cy="79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>
              <a:defRPr sz="2000">
                <a:solidFill>
                  <a:srgbClr val="FFFFFF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27th Mar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hree Choice Delayed Response Tas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Three Choice Delayed Response Task</a:t>
            </a:r>
          </a:p>
        </p:txBody>
      </p:sp>
      <p:sp>
        <p:nvSpPr>
          <p:cNvPr id="137" name="Haz doble clic para editar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238125" defTabSz="685800">
              <a:buSzPts val="1000"/>
              <a:defRPr sz="1050"/>
            </a:pPr>
          </a:p>
        </p:txBody>
      </p:sp>
      <p:pic>
        <p:nvPicPr>
          <p:cNvPr id="138" name="desconocido.png" descr="desconocid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8229" y="1476921"/>
            <a:ext cx="7547542" cy="26976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Model descrip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Model description</a:t>
            </a:r>
          </a:p>
        </p:txBody>
      </p:sp>
      <p:pic>
        <p:nvPicPr>
          <p:cNvPr id="141" name="Imagen" descr="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0146" y="1736819"/>
            <a:ext cx="8063748" cy="24541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corridor.pdf" descr="corridor.pdf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837874" y="1217566"/>
            <a:ext cx="789246" cy="12203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Urgency sign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Urgency signal</a:t>
            </a:r>
          </a:p>
        </p:txBody>
      </p:sp>
      <p:pic>
        <p:nvPicPr>
          <p:cNvPr id="145" name="comparison_Us.pdf" descr="comparison_Us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25569" y="1036732"/>
            <a:ext cx="4605822" cy="36502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corridor.pdf" descr="corridor.pdf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1301520" y="1322903"/>
            <a:ext cx="1990613" cy="3077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fig_categorical_perf_all.pdf" descr="fig_categorical_perf_all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8933" y="3277723"/>
            <a:ext cx="3810001" cy="152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Categorical plo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Categorical plot</a:t>
            </a:r>
          </a:p>
        </p:txBody>
      </p:sp>
      <p:grpSp>
        <p:nvGrpSpPr>
          <p:cNvPr id="154" name="Agrupar"/>
          <p:cNvGrpSpPr/>
          <p:nvPr/>
        </p:nvGrpSpPr>
        <p:grpSpPr>
          <a:xfrm>
            <a:off x="4973666" y="1108213"/>
            <a:ext cx="3810001" cy="3731543"/>
            <a:chOff x="0" y="0"/>
            <a:chExt cx="3810000" cy="3731542"/>
          </a:xfrm>
        </p:grpSpPr>
        <p:sp>
          <p:nvSpPr>
            <p:cNvPr id="150" name="Google Shape;222;p33"/>
            <p:cNvSpPr txBox="1"/>
            <p:nvPr/>
          </p:nvSpPr>
          <p:spPr>
            <a:xfrm>
              <a:off x="1076482" y="1861184"/>
              <a:ext cx="1951201" cy="4241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 algn="ctr">
                <a:defRPr sz="1600">
                  <a:solidFill>
                    <a:srgbClr val="E377C2"/>
                  </a:solidFill>
                  <a:latin typeface="Montserrat Thin Bold"/>
                  <a:ea typeface="Montserrat Thin Bold"/>
                  <a:cs typeface="Montserrat Thin Bold"/>
                  <a:sym typeface="Montserrat Thin Bold"/>
                </a:defRPr>
              </a:lvl1pPr>
            </a:lstStyle>
            <a:p>
              <a:pPr/>
              <a:r>
                <a:t>Spatial</a:t>
              </a:r>
            </a:p>
          </p:txBody>
        </p:sp>
        <p:pic>
          <p:nvPicPr>
            <p:cNvPr id="151" name="fig_categorical_perf_all.png" descr="fig_categorical_perf_all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2207542"/>
              <a:ext cx="3810000" cy="1524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2" name="fig_categorical_perf_all.png" descr="fig_categorical_perf_all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337078"/>
              <a:ext cx="3810000" cy="1524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3" name="Google Shape;222;p33"/>
            <p:cNvSpPr txBox="1"/>
            <p:nvPr/>
          </p:nvSpPr>
          <p:spPr>
            <a:xfrm>
              <a:off x="1081799" y="0"/>
              <a:ext cx="1951201" cy="424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 algn="ctr">
                <a:defRPr sz="1600">
                  <a:solidFill>
                    <a:srgbClr val="2CA02C"/>
                  </a:solidFill>
                  <a:latin typeface="Montserrat Thin Bold"/>
                  <a:ea typeface="Montserrat Thin Bold"/>
                  <a:cs typeface="Montserrat Thin Bold"/>
                  <a:sym typeface="Montserrat Thin Bold"/>
                </a:defRPr>
              </a:lvl1pPr>
            </a:lstStyle>
            <a:p>
              <a:pPr/>
              <a:r>
                <a:t>Temporal U </a:t>
              </a:r>
            </a:p>
          </p:txBody>
        </p:sp>
      </p:grpSp>
      <p:grpSp>
        <p:nvGrpSpPr>
          <p:cNvPr id="157" name="Agrupar"/>
          <p:cNvGrpSpPr/>
          <p:nvPr/>
        </p:nvGrpSpPr>
        <p:grpSpPr>
          <a:xfrm>
            <a:off x="588933" y="2994197"/>
            <a:ext cx="3810001" cy="1807527"/>
            <a:chOff x="0" y="0"/>
            <a:chExt cx="3810000" cy="1807526"/>
          </a:xfrm>
        </p:grpSpPr>
        <p:pic>
          <p:nvPicPr>
            <p:cNvPr id="155" name="fig_categorical_perf_all.png" descr="fig_categorical_perf_all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0" r="0" b="0"/>
            <a:stretch>
              <a:fillRect/>
            </a:stretch>
          </p:blipFill>
          <p:spPr>
            <a:xfrm>
              <a:off x="0" y="283526"/>
              <a:ext cx="3810000" cy="1524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6" name="Google Shape;222;p33"/>
            <p:cNvSpPr txBox="1"/>
            <p:nvPr/>
          </p:nvSpPr>
          <p:spPr>
            <a:xfrm>
              <a:off x="674944" y="0"/>
              <a:ext cx="2874769" cy="424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 algn="ctr">
                <a:defRPr sz="1600">
                  <a:solidFill>
                    <a:srgbClr val="0053CE"/>
                  </a:solidFill>
                  <a:latin typeface="Montserrat Thin Bold"/>
                  <a:ea typeface="Montserrat Thin Bold"/>
                  <a:cs typeface="Montserrat Thin Bold"/>
                  <a:sym typeface="Montserrat Thin Bold"/>
                </a:defRPr>
              </a:lvl1pPr>
            </a:lstStyle>
            <a:p>
              <a:pPr/>
              <a:r>
                <a:t>External U comparable</a:t>
              </a:r>
            </a:p>
          </p:txBody>
        </p:sp>
      </p:grpSp>
      <p:pic>
        <p:nvPicPr>
          <p:cNvPr id="158" name="Imagen" descr="Imagen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190546" y="1553206"/>
            <a:ext cx="1135731" cy="1223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Imagen" descr="Imagen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364553" y="1553818"/>
            <a:ext cx="1135731" cy="1222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Imagen" descr="Imagen"/>
          <p:cNvPicPr>
            <a:picLocks noChangeAspect="1"/>
          </p:cNvPicPr>
          <p:nvPr/>
        </p:nvPicPr>
        <p:blipFill>
          <a:blip r:embed="rId8">
            <a:extLst/>
          </a:blip>
          <a:srcRect l="0" t="0" r="0" b="0"/>
          <a:stretch>
            <a:fillRect/>
          </a:stretch>
        </p:blipFill>
        <p:spPr>
          <a:xfrm>
            <a:off x="1037680" y="1565909"/>
            <a:ext cx="1093449" cy="12237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4" grpId="3"/>
      <p:bldP build="whole" bldLvl="1" animBg="1" rev="0" advAuto="0" spid="148" grpId="1"/>
      <p:bldP build="whole" bldLvl="1" animBg="1" rev="0" advAuto="0" spid="157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28;p34"/>
          <p:cNvSpPr txBox="1"/>
          <p:nvPr>
            <p:ph type="title"/>
          </p:nvPr>
        </p:nvSpPr>
        <p:spPr>
          <a:xfrm>
            <a:off x="311699" y="163649"/>
            <a:ext cx="8520602" cy="572702"/>
          </a:xfrm>
          <a:prstGeom prst="rect">
            <a:avLst/>
          </a:prstGeom>
        </p:spPr>
        <p:txBody>
          <a:bodyPr/>
          <a:lstStyle>
            <a:lvl1pPr defTabSz="850391">
              <a:defRPr sz="2511"/>
            </a:lvl1pPr>
          </a:lstStyle>
          <a:p>
            <a:pPr/>
            <a:r>
              <a:t>Psicometrics</a:t>
            </a:r>
          </a:p>
        </p:txBody>
      </p:sp>
      <p:pic>
        <p:nvPicPr>
          <p:cNvPr id="163" name="fig_delay_1d_All subjects_spatial_reduced3_vs_externalU2_randomx0_vs_temporalU.pdf" descr="fig_delay_1d_All subjects_spatial_reduced3_vs_externalU2_randomx0_vs_temporalU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9550" y="1487239"/>
            <a:ext cx="2677022" cy="26770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fig_stim_1d_All subjects_spatial_reduced3_vs_externalU2_randomx0.pdf" descr="fig_stim_1d_All subjects_spatial_reduced3_vs_externalU2_randomx0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27550" y="1487239"/>
            <a:ext cx="2677022" cy="26770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rial traces aligned to respon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Trial traces aligned to response </a:t>
            </a:r>
          </a:p>
        </p:txBody>
      </p:sp>
      <p:pic>
        <p:nvPicPr>
          <p:cNvPr id="167" name="traces_errors_winning_good_bad_timepoint_3_DM.pdf" descr="traces_errors_winning_good_bad_timepoint_3_DM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22301" y="1625780"/>
            <a:ext cx="2524395" cy="2524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traces_errors_winning_good_bad_timepoint_3_DL.pdf" descr="traces_errors_winning_good_bad_timepoint_3_DL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3975" y="1762782"/>
            <a:ext cx="2250390" cy="2250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traces_errors_winning_good_bad_timepoint_3_DS.pdf" descr="traces_errors_winning_good_bad_timepoint_3_D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31797" y="1625780"/>
            <a:ext cx="2524395" cy="2524395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Delay Long"/>
          <p:cNvSpPr txBox="1"/>
          <p:nvPr/>
        </p:nvSpPr>
        <p:spPr>
          <a:xfrm>
            <a:off x="1838566" y="4073258"/>
            <a:ext cx="119205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D0AFD1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Long</a:t>
            </a:r>
          </a:p>
        </p:txBody>
      </p:sp>
      <p:sp>
        <p:nvSpPr>
          <p:cNvPr id="171" name="Delay Medium"/>
          <p:cNvSpPr txBox="1"/>
          <p:nvPr/>
        </p:nvSpPr>
        <p:spPr>
          <a:xfrm>
            <a:off x="4330467" y="4073258"/>
            <a:ext cx="15309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A77AAD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Medium</a:t>
            </a:r>
          </a:p>
        </p:txBody>
      </p:sp>
      <p:sp>
        <p:nvSpPr>
          <p:cNvPr id="172" name="Delay Short"/>
          <p:cNvSpPr txBox="1"/>
          <p:nvPr/>
        </p:nvSpPr>
        <p:spPr>
          <a:xfrm>
            <a:off x="7140816" y="4073258"/>
            <a:ext cx="123285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6C3B88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Short</a:t>
            </a:r>
          </a:p>
        </p:txBody>
      </p:sp>
      <p:pic>
        <p:nvPicPr>
          <p:cNvPr id="173" name="Imagen" descr="Imagen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2103" y="1115668"/>
            <a:ext cx="1135731" cy="12224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2520"/>
            </a:lvl1pPr>
          </a:lstStyle>
          <a:p>
            <a:pPr/>
            <a:r>
              <a:t>º</a:t>
            </a:r>
          </a:p>
        </p:txBody>
      </p:sp>
      <p:pic>
        <p:nvPicPr>
          <p:cNvPr id="176" name="Imagen" descr="Imagen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0151" y="2187681"/>
            <a:ext cx="2524714" cy="1514828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Delay Long"/>
          <p:cNvSpPr txBox="1"/>
          <p:nvPr/>
        </p:nvSpPr>
        <p:spPr>
          <a:xfrm>
            <a:off x="1777187" y="3743058"/>
            <a:ext cx="119205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D0AFD1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Long</a:t>
            </a:r>
          </a:p>
        </p:txBody>
      </p:sp>
      <p:sp>
        <p:nvSpPr>
          <p:cNvPr id="178" name="Delay Medium"/>
          <p:cNvSpPr txBox="1"/>
          <p:nvPr/>
        </p:nvSpPr>
        <p:spPr>
          <a:xfrm>
            <a:off x="4279667" y="3743058"/>
            <a:ext cx="15309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A77AAD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Medium</a:t>
            </a:r>
          </a:p>
        </p:txBody>
      </p:sp>
      <p:sp>
        <p:nvSpPr>
          <p:cNvPr id="179" name="Delay Short"/>
          <p:cNvSpPr txBox="1"/>
          <p:nvPr/>
        </p:nvSpPr>
        <p:spPr>
          <a:xfrm>
            <a:off x="6988416" y="3743058"/>
            <a:ext cx="123285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28600" indent="-228600">
              <a:defRPr sz="1600">
                <a:solidFill>
                  <a:srgbClr val="6C3B88"/>
                </a:solidFill>
                <a:latin typeface="Montserrat Thin SemiBold"/>
                <a:ea typeface="Montserrat Thin SemiBold"/>
                <a:cs typeface="Montserrat Thin SemiBold"/>
                <a:sym typeface="Montserrat Thin SemiBold"/>
              </a:defRPr>
            </a:lvl1pPr>
          </a:lstStyle>
          <a:p>
            <a:pPr/>
            <a:r>
              <a:t>Delay Short</a:t>
            </a:r>
          </a:p>
        </p:txBody>
      </p:sp>
      <p:pic>
        <p:nvPicPr>
          <p:cNvPr id="180" name="Imagen" descr="Image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2103" y="1115668"/>
            <a:ext cx="1135731" cy="1222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single_trial_trace_A83_idx0.pdf" descr="single_trial_trace_A83_idx0.pdf"/>
          <p:cNvPicPr>
            <a:picLocks noChangeAspect="1"/>
          </p:cNvPicPr>
          <p:nvPr/>
        </p:nvPicPr>
        <p:blipFill>
          <a:blip r:embed="rId4">
            <a:extLst/>
          </a:blip>
          <a:srcRect l="133" t="0" r="133" b="0"/>
          <a:stretch>
            <a:fillRect/>
          </a:stretch>
        </p:blipFill>
        <p:spPr>
          <a:xfrm>
            <a:off x="3648890" y="2185653"/>
            <a:ext cx="2524715" cy="1518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ingle_trial_trace_A83_idx0.pdf" descr="single_trial_trace_A83_idx0.pdf"/>
          <p:cNvPicPr>
            <a:picLocks noChangeAspect="1"/>
          </p:cNvPicPr>
          <p:nvPr/>
        </p:nvPicPr>
        <p:blipFill>
          <a:blip r:embed="rId5">
            <a:extLst/>
          </a:blip>
          <a:srcRect l="133" t="0" r="133" b="0"/>
          <a:stretch>
            <a:fillRect/>
          </a:stretch>
        </p:blipFill>
        <p:spPr>
          <a:xfrm>
            <a:off x="6237630" y="2185653"/>
            <a:ext cx="2524714" cy="15188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Javi's theme">
  <a:themeElements>
    <a:clrScheme name="Javi's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Javi's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Javi'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Javi's theme">
  <a:themeElements>
    <a:clrScheme name="Javi's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Javi's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Javi'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